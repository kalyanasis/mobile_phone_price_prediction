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110" d="100"/>
          <a:sy n="110" d="100"/>
        </p:scale>
        <p:origin x="924" y="10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5/1/2026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Feature Extraction and Price Prediction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Mobile Phones Market Analysis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Target Variable: Price Distribution</a:t>
            </a:r>
          </a:p>
        </p:txBody>
      </p:sp>
      <p:pic>
        <p:nvPicPr>
          <p:cNvPr id="3" name="Picture 2" descr="price_distribu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371599"/>
            <a:ext cx="6741887" cy="4045132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7199087" y="1616691"/>
            <a:ext cx="1487712" cy="36009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dirty="0"/>
          </a:p>
          <a:p>
            <a:pPr algn="just">
              <a:defRPr sz="1400"/>
            </a:pPr>
            <a:r>
              <a:rPr dirty="0"/>
              <a:t>• The price distribution is right-skewed.</a:t>
            </a:r>
          </a:p>
          <a:p>
            <a:pPr algn="just">
              <a:defRPr sz="1400"/>
            </a:pPr>
            <a:r>
              <a:rPr dirty="0"/>
              <a:t>• Most phones fall into the budget or mid-tier categories.</a:t>
            </a:r>
          </a:p>
          <a:p>
            <a:pPr algn="just">
              <a:defRPr sz="1400"/>
            </a:pPr>
            <a:r>
              <a:rPr dirty="0"/>
              <a:t>• A long tail exists for premium/flagship devices.</a:t>
            </a:r>
          </a:p>
          <a:p>
            <a:pPr algn="just">
              <a:defRPr sz="1400"/>
            </a:pPr>
            <a:r>
              <a:rPr dirty="0"/>
              <a:t>• This indicates a broad market with distinct pricing tiers.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Key Price Driver: RAM Capacity</a:t>
            </a:r>
          </a:p>
        </p:txBody>
      </p:sp>
      <p:pic>
        <p:nvPicPr>
          <p:cNvPr id="3" name="Picture 2" descr="ram_vs_pric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199" y="1371599"/>
            <a:ext cx="6437085" cy="3862251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975566" y="1598023"/>
            <a:ext cx="1711234" cy="246221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/>
            </a:pPr>
            <a:r>
              <a:rPr dirty="0" smtClean="0"/>
              <a:t>• </a:t>
            </a:r>
            <a:r>
              <a:rPr dirty="0"/>
              <a:t>RAM has a very strong, step-function relationship with Price.</a:t>
            </a:r>
          </a:p>
          <a:p>
            <a:pPr>
              <a:defRPr sz="1400"/>
            </a:pPr>
            <a:r>
              <a:rPr dirty="0"/>
              <a:t>• Each incremental tier of RAM forces a distinct jump in median price.</a:t>
            </a:r>
          </a:p>
          <a:p>
            <a:pPr>
              <a:defRPr sz="1400"/>
            </a:pPr>
            <a:r>
              <a:rPr dirty="0"/>
              <a:t>• High RAM is a primary premium pricing anchor.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t>Key Price Driver: Storage Memory (ROM)</a:t>
            </a:r>
          </a:p>
        </p:txBody>
      </p:sp>
      <p:pic>
        <p:nvPicPr>
          <p:cNvPr id="3" name="Picture 2" descr="memory_vs_pric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371599"/>
            <a:ext cx="6582228" cy="3949337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7039428" y="1580606"/>
            <a:ext cx="1647371" cy="28931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/>
            </a:pPr>
            <a:r>
              <a:rPr dirty="0" smtClean="0"/>
              <a:t>• </a:t>
            </a:r>
            <a:r>
              <a:rPr dirty="0"/>
              <a:t>Storage capacity operates similarly to RAM.</a:t>
            </a:r>
          </a:p>
          <a:p>
            <a:pPr>
              <a:defRPr sz="1400"/>
            </a:pPr>
            <a:r>
              <a:rPr dirty="0"/>
              <a:t>• It provides a clear, actionable way to justify price increases.</a:t>
            </a:r>
          </a:p>
          <a:p>
            <a:pPr>
              <a:defRPr sz="1400"/>
            </a:pPr>
            <a:r>
              <a:rPr dirty="0"/>
              <a:t>• Base models start low, while higher storage variants command significant premiums.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t>Size Impact: Mobile Height vs. Price</a:t>
            </a:r>
          </a:p>
        </p:txBody>
      </p:sp>
      <p:pic>
        <p:nvPicPr>
          <p:cNvPr id="3" name="Picture 2" descr="size_impac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199" y="1371599"/>
            <a:ext cx="6567715" cy="3940629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7062650" y="1702525"/>
            <a:ext cx="1624149" cy="28931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/>
            </a:pPr>
            <a:r>
              <a:rPr dirty="0" smtClean="0"/>
              <a:t>• </a:t>
            </a:r>
            <a:r>
              <a:rPr dirty="0"/>
              <a:t>Physical size (Mobile Height) shows near zero correlation with price.</a:t>
            </a:r>
          </a:p>
          <a:p>
            <a:pPr>
              <a:defRPr sz="1400"/>
            </a:pPr>
            <a:r>
              <a:rPr dirty="0"/>
              <a:t>• Most devices cluster around a standard size regardless of cost.</a:t>
            </a:r>
          </a:p>
          <a:p>
            <a:pPr>
              <a:defRPr sz="1400"/>
            </a:pPr>
            <a:r>
              <a:rPr dirty="0"/>
              <a:t>• Size is NOT a reliable differentiator for premium pricing.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Feature Correlation Analysis</a:t>
            </a:r>
          </a:p>
        </p:txBody>
      </p:sp>
      <p:pic>
        <p:nvPicPr>
          <p:cNvPr id="3" name="Picture 2" descr="correlation_heatma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371600"/>
            <a:ext cx="6720840" cy="44805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888480" y="1371600"/>
            <a:ext cx="1798320" cy="27392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dirty="0"/>
          </a:p>
          <a:p>
            <a:pPr>
              <a:defRPr sz="1400"/>
            </a:pPr>
            <a:r>
              <a:rPr dirty="0"/>
              <a:t>• RAM (0.83) and Memory (0.75) are the strongest linear predictors.</a:t>
            </a:r>
          </a:p>
          <a:p>
            <a:pPr>
              <a:defRPr sz="1400"/>
            </a:pPr>
            <a:r>
              <a:rPr dirty="0"/>
              <a:t>• Rear Camera MP (0.64) is also highly significant.</a:t>
            </a:r>
          </a:p>
          <a:p>
            <a:pPr>
              <a:defRPr sz="1400"/>
            </a:pPr>
            <a:r>
              <a:rPr dirty="0"/>
              <a:t>• Battery capacity and physical dimensions show extremely weak correlations.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t>Ultimate Feature Importance (Random Forest)</a:t>
            </a:r>
          </a:p>
        </p:txBody>
      </p:sp>
      <p:pic>
        <p:nvPicPr>
          <p:cNvPr id="3" name="Picture 2" descr="feature_importanc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371599"/>
            <a:ext cx="6435634" cy="3217817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871062" y="1371600"/>
            <a:ext cx="1815737" cy="33239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/>
            </a:pPr>
            <a:r>
              <a:rPr dirty="0" smtClean="0"/>
              <a:t>• </a:t>
            </a:r>
            <a:r>
              <a:rPr dirty="0"/>
              <a:t>Random Forest extracted Gini </a:t>
            </a:r>
            <a:r>
              <a:rPr dirty="0" err="1"/>
              <a:t>importances</a:t>
            </a:r>
            <a:r>
              <a:rPr dirty="0"/>
              <a:t> confirming our EDA.</a:t>
            </a:r>
          </a:p>
          <a:p>
            <a:pPr>
              <a:defRPr sz="1400"/>
            </a:pPr>
            <a:r>
              <a:rPr dirty="0"/>
              <a:t>• Compute (Memory/RAM) are the undisputed top drivers.</a:t>
            </a:r>
          </a:p>
          <a:p>
            <a:pPr>
              <a:defRPr sz="1400"/>
            </a:pPr>
            <a:r>
              <a:rPr dirty="0"/>
              <a:t>• Rear Camera quality provides the next best justification for price bumps.</a:t>
            </a:r>
          </a:p>
          <a:p>
            <a:pPr>
              <a:defRPr sz="1400"/>
            </a:pPr>
            <a:r>
              <a:rPr dirty="0"/>
              <a:t>• Battery and screen size offer diminishing returns.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</TotalTime>
  <Words>275</Words>
  <Application>Microsoft Office PowerPoint</Application>
  <PresentationFormat>On-screen Show (4:3)</PresentationFormat>
  <Paragraphs>30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Feature Extraction and Price Prediction</vt:lpstr>
      <vt:lpstr>Target Variable: Price Distribution</vt:lpstr>
      <vt:lpstr>Key Price Driver: RAM Capacity</vt:lpstr>
      <vt:lpstr>Key Price Driver: Storage Memory (ROM)</vt:lpstr>
      <vt:lpstr>Size Impact: Mobile Height vs. Price</vt:lpstr>
      <vt:lpstr>Feature Correlation Analysis</vt:lpstr>
      <vt:lpstr>Ultimate Feature Importance (Random Forest)</vt:lpstr>
    </vt:vector>
  </TitlesOfParts>
  <Manager/>
  <Company/>
  <LinksUpToDate>false</LinksUpToDate>
  <SharedDoc>false</SharedDoc>
  <HyperlinkBase/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Feature Extraction and Price Prediction</dc:title>
  <dc:subject/>
  <dc:creator/>
  <cp:keywords/>
  <dc:description>generated using python-pptx</dc:description>
  <cp:lastModifiedBy>Kaunish</cp:lastModifiedBy>
  <cp:revision>4</cp:revision>
  <dcterms:created xsi:type="dcterms:W3CDTF">2013-01-27T09:14:16Z</dcterms:created>
  <dcterms:modified xsi:type="dcterms:W3CDTF">2026-05-01T15:42:08Z</dcterms:modified>
  <cp:category/>
</cp:coreProperties>
</file>